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20000"/>
            <a:ext cx="1080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5F7FA"/>
                </a:solidFill>
                <a:latin typeface="Calibri"/>
              </a:rPr>
              <a:t>Белорусский государственный университет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80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Calibri"/>
              </a:rPr>
              <a:t>Факультет радиофизики и компьютерных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296000"/>
            <a:ext cx="1080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Calibri"/>
              </a:rPr>
              <a:t>Кафедра телекоммуникаций и информационных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340000"/>
            <a:ext cx="1080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5F7FA"/>
                </a:solidFill>
                <a:latin typeface="Calibri"/>
              </a:rPr>
              <a:t>Курсовая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772000"/>
            <a:ext cx="10800000" cy="1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5F7FA"/>
                </a:solidFill>
                <a:latin typeface="Calibri"/>
              </a:rPr>
              <a:t>Разработка программно-аппаратного комплекса</a:t>
            </a:r>
          </a:p>
          <a:p>
            <a:pPr algn="ctr"/>
            <a:r>
              <a:rPr sz="3200" b="1">
                <a:solidFill>
                  <a:srgbClr val="F5F7FA"/>
                </a:solidFill>
                <a:latin typeface="Calibri"/>
              </a:rPr>
              <a:t>криптографических преобразований информации</a:t>
            </a:r>
          </a:p>
          <a:p>
            <a:pPr algn="ctr"/>
            <a:r>
              <a:rPr sz="3200" b="1">
                <a:solidFill>
                  <a:srgbClr val="F5F7FA"/>
                </a:solidFill>
                <a:latin typeface="Calibri"/>
              </a:rPr>
              <a:t>по стандартам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5220000"/>
            <a:ext cx="10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Calibri"/>
              </a:rPr>
              <a:t>Выполнил: Дятчик Владимир Александрович, студент 3 курса 602 группы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5508000"/>
            <a:ext cx="10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Calibri"/>
              </a:rPr>
              <a:t>Научный руководитель: ассистент Рундыгин Сергей Денисович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00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Calibri"/>
              </a:rPr>
              <a:t>Минск,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Цель и задачи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12000"/>
            <a:ext cx="1080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Разработка программно-аппаратного комплекса, выполняющего криптографические преобразования информации по белорусским стандартам СТБ 34.101.31 и СТБ 34.101.45 на отдельном USB-устройстве.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700000"/>
            <a:ext cx="1080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Задачи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3131999"/>
            <a:ext cx="1080000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1. Изучить теоретические основы и национальные криптографические стандарты СТБ.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2. Обосновать выбор микроконтроллерной платформы и архитектуры комплекса.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3. Провести обзор существующих аппаратно-программных средств защиты по СТБ.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4. Разработать прошивку устройства на основе криптобиблиотеки bee2.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5. Реализовать хост-приложение для управления комплексом по USB CDC.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6. Провести натурные испытания и оценить производительность и стойкость.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Актуальность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080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Государственные и финансовые системы РБ обязаны защищать данные по СТБ.</a:t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Использование иностранных решений ограничено законодательством (Указ № 196).</a:t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Программные хранилища ключей уязвимы при компрометации хост-системы.</a:t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Сертифицированные токены (АвестКлюч, Rutoken) дороги и закрыты.</a:t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Нет открытых учебных образцов на отладочных платах STM32.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860000"/>
            <a:ext cx="10800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⇒ Открытый, недорогой и расширяемый макет</a:t>
            </a:r>
          </a:p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USB-токена, реализующего отечественные стандарты СТБ.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Используемые стандарты СТБ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260000"/>
          <a:ext cx="1098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4680000"/>
                <a:gridCol w="3960000"/>
              </a:tblGrid>
              <a:tr h="792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Стандарт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Роль в комплексе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79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34.101.31-2020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Шифр belt (блок 128 бит, ключ до 256 бит)
и хеш-функция belt-hash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Шифрование файлов в режиме CBC,
вычисление хешей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9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34.101.45-2020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Электронная цифровая подпись bign
на эллиптических кривых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Формирование и проверка подписи,
алгоритм bign-sign2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34.101.47-2017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Алгоритмы генерации
псевдослучайных чисел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Генератор brng для выработки
ключевой пары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9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34.101.66-2014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Протокол выработки общего
ключа bake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Перспективное направление
для защиты канала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Общая архитектура комплекса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0000" y="1800000"/>
            <a:ext cx="3960000" cy="288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872000"/>
            <a:ext cx="36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Персональный компьютер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340000"/>
            <a:ext cx="3600000" cy="2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Tkinter GUI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stm32_protocol.py (PySerial)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belt_hash.py — эталон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belt.py — программный шифр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чтение/запись файлов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хранение публичных ключей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0000" y="2951999"/>
            <a:ext cx="252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3A68"/>
                </a:solidFill>
                <a:latin typeface="Calibri"/>
              </a:rPr>
              <a:t>USB CDC ACM</a:t>
            </a:r>
          </a:p>
          <a:p>
            <a:pPr algn="ctr"/>
            <a:r>
              <a:rPr sz="1400" b="1">
                <a:solidFill>
                  <a:srgbClr val="1F3A68"/>
                </a:solidFill>
                <a:latin typeface="Calibri"/>
              </a:rPr>
              <a:t>«запрос – ответ», 8 команд</a:t>
            </a:r>
          </a:p>
        </p:txBody>
      </p:sp>
      <p:sp>
        <p:nvSpPr>
          <p:cNvPr id="9" name="Left-Right Arrow 8"/>
          <p:cNvSpPr/>
          <p:nvPr/>
        </p:nvSpPr>
        <p:spPr>
          <a:xfrm>
            <a:off x="4860000" y="3420000"/>
            <a:ext cx="2520000" cy="288000"/>
          </a:xfrm>
          <a:prstGeom prst="leftRightArrow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60000" y="1800000"/>
            <a:ext cx="3960000" cy="288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40000" y="1872000"/>
            <a:ext cx="36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STM32F103C8T6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0000" y="2340000"/>
            <a:ext cx="3600000" cy="2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bee2 (belt, belt-hash, bign)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usb_protocol — диспетчер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key_storage — Flash 0x0801FC00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rng_stm32 — сбор энтропии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HAL + USB Device CDC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5040000"/>
            <a:ext cx="10800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3A68"/>
                </a:solidFill>
                <a:latin typeface="Calibri"/>
              </a:rPr>
              <a:t>Принцип минимизации доверенной зоны: закрытый ключ никогда не покидает микроконтроллер.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Аппаратная платформа: STM32F103C8T6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540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Ядро ARM Cortex-M3, 72 МГц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128 КБ Flash, 20 КБ ОЗУ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Аппаратный USB Full-Speed (12 Мбит/с)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96-битный уникальный ID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12-разрядный АЦП — источник шума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Цена платы STM32 Smart V2.0 &lt; 10 у.е.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260000"/>
            <a:ext cx="54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Почему именно этот МК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692000"/>
            <a:ext cx="540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Достаточно памяти для bee2 (≈38 КБ)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Полный цикл bign-sign укладывается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в 42 мс — приемлемо для пользователя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Аппаратный USB снимает необходимость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в драйверах USB-UART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Опция Read-out Protection защищает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Flash от несанкционированного чтения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Протокол обмена по USB CDC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Формат пакета: CMD (1 байт) | LEN (2 байта) | DATA (LEN байт)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800000"/>
          <a:ext cx="10980000" cy="41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/>
                <a:gridCol w="7740000"/>
              </a:tblGrid>
              <a:tr h="4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Команда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CMD_PING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Проверка связи, возвращает «BIGN1»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CMD_GEN_KEYPAIR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Генерация новой пары ключей bign-128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CMD_GET_PUBKEY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Чтение открытого ключа (64 байта)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Подпись 32-байтового хеша → 48 байт подписи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CMD_VERIFY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Проверка подписи по pubkey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belt-hash произвольных данных → 32 байта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CMD_ENCRYPT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belt-CBC: IV+ключ+открытый текст → шифртекст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CMD_DECRYPT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belt-CBC обратно: шифртекст → открытый текст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Прошивка устройства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54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Слои прошивки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48000"/>
            <a:ext cx="540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1. STM32 HAL (CubeMX)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2. USB Device + USB CDC ACM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3. usb_protocol — кадрирование и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диспетчер 8 команд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4. crypto_stb — обёртка над bee2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5. key_storage — Flash + CRC-32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6. rng_stm32 — UID + DWT + АЦП → belt-hash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Хранение ключевой пары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548000"/>
            <a:ext cx="540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Последняя страница Flash: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0x0801FC00, 1 КБ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32 Б d || 64 Б Q || 4 Б CRC-32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Защита целостности по CRC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При повреждении → ERR_NO_KEY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Закрытый ключ d из чипа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не выводится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Хост-приложение (Python 3 + Tkinter)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Три рабочих вкладки + журнал операций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800000"/>
            <a:ext cx="3600000" cy="324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872000"/>
            <a:ext cx="32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Ключи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2304000"/>
            <a:ext cx="3240000" cy="2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Чтение публичного ключа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Генерация новой пары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Сохранение pubkey в файл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0" y="1800000"/>
            <a:ext cx="3600000" cy="324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4000" y="1872000"/>
            <a:ext cx="32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Подпись / проверка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4000" y="2304000"/>
            <a:ext cx="3240000" cy="2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belt-hash на ПК и устройстве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bign-sign2 → файл .sig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bign-verify, негативные тесты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0000" y="1800000"/>
            <a:ext cx="3600000" cy="324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4000" y="1872000"/>
            <a:ext cx="32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Шифрование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4000" y="2304000"/>
            <a:ext cx="3240000" cy="2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belt-CBC + PKCS#7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Случайный ключ и IV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Round-trip без потерь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5256000"/>
            <a:ext cx="10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Модули: stm32_protocol.py (PySerial), belt.py, belt_hash.py (эталонные реализации для контроля устройства).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Демонстрация: генерация ключевой пары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key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5953963" cy="46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80000" y="1260000"/>
            <a:ext cx="4320000" cy="46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Сбор энтропии: UID + ADC + DWT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belt-hash → затравка генератора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d ← brng, Q = d·G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Запись в Flash 0x0801FC00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Возврат публичного ключа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(64 байта)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Время операции: 110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Демонстрация: ЭЦП по СТБ 34.101.45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sign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5930633" cy="46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80000" y="1260000"/>
            <a:ext cx="4320000" cy="46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belt-hash файла Open Text.txt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на ПК и на устройстве совпали: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e2f43da9…0133eb45b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bign-sign2 (детерминированный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k = belt-pbkdf(d || H))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Получена подпись 48 байт: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76199588…861b8946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Время формирования: 42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Демонстрация: шифрование belt-CBC + PKCS#7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encrypt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5947915" cy="46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80000" y="1260000"/>
            <a:ext cx="4320000" cy="46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Исходный файл: 43 байта (UTF-8)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Случайный ключ 32 Б, IV 16 Б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После PKCS#7 → 48 байт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передаются на устройство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belt-CBC шифрует → 48 байт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Расшифрование + снятие PKCS#7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→ ровно 43 байта оригинала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Подтверждение корректности: round-trip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round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11160000" cy="3889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5652000"/>
            <a:ext cx="1098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Слева — оригинал, в центре — шифртекст (нечитаемые байты), справа — расшифрованный файл. SHA-256 совпадает с оригиналом.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Производительность и ресурсы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188000"/>
          <a:ext cx="720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/>
                <a:gridCol w="1800000"/>
                <a:gridCol w="2520000"/>
              </a:tblGrid>
              <a:tr h="514285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7FA"/>
                          </a:solidFill>
                          <a:latin typeface="Calibri"/>
                        </a:rPr>
                        <a:t>Операция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7FA"/>
                          </a:solidFill>
                          <a:latin typeface="Calibri"/>
                        </a:rPr>
                        <a:t>Размер данных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7FA"/>
                          </a:solidFill>
                          <a:latin typeface="Calibri"/>
                        </a:rPr>
                        <a:t>Время / скорость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CMD_PING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0,5 мс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belt-hash, 1 КБ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1024 байта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1,3 мс  /  770 КБ/с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belt-CBC шифрование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 КБ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0,9 мс  /  1,1 МБ/с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bign-sign2 (подпись)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хеш 32 байта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42 мс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bign-verify (проверка)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32 + 48 + 64 байта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78 мс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1429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CMD_GEN_KEYPAIR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110 мс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0" y="1188000"/>
            <a:ext cx="36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Использование ресурсов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0" y="1620000"/>
            <a:ext cx="3600000" cy="3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Flash: 83 / 128 КБ (≈ 65 %)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bee2 ≈ 38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USB-стек ≈ 14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HAL ≈ 12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прикладной слой ≈ 16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ОЗУ: 18,5 / 20 КБ (≈ 93 %)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bss ≈ 13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куча bee2 ≈ 4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стек ≈ 1,5 КБ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Сравнение с существующими решениями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188000"/>
          <a:ext cx="10980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/>
                <a:gridCol w="4140000"/>
                <a:gridCol w="2520000"/>
                <a:gridCol w="1440000"/>
              </a:tblGrid>
              <a:tr h="54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Решение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Алгоритмы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Открытость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Цена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АвестКлюч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34.101.31/45/66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закрытое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коммерч.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Rutoken ЭЦП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34.101.31/45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закрытое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коммерч.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JaCarta GOST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закрытое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коммерч.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Bee2 (BSU)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34.101.31/45/47/66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открытое (Apache 2.0)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Разработанный комплекс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СТБ 34.101.31, 34.101.45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открытое (MIT)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&lt; 10 у.е.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4860000"/>
            <a:ext cx="10980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1A1A1A"/>
                </a:solidFill>
                <a:latin typeface="Calibri"/>
              </a:rPr>
              <a:t>Разработанный комплекс занимает промежуточную нишу:</a:t>
            </a:r>
          </a:p>
          <a:p>
            <a:pPr algn="ctr"/>
            <a:r>
              <a:rPr sz="1700" b="0">
                <a:solidFill>
                  <a:srgbClr val="1A1A1A"/>
                </a:solidFill>
                <a:latin typeface="Calibri"/>
              </a:rPr>
              <a:t>аппаратная защита ключа, как у промышленных токенов,</a:t>
            </a:r>
          </a:p>
          <a:p>
            <a:pPr algn="ctr"/>
            <a:r>
              <a:rPr sz="1700" b="0">
                <a:solidFill>
                  <a:srgbClr val="1A1A1A"/>
                </a:solidFill>
                <a:latin typeface="Calibri"/>
              </a:rPr>
              <a:t>при полностью открытом коде и доступном оборудовании.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Оценка стойкости и защищённости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54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Криптографическая стойкость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84000"/>
            <a:ext cx="5400000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belt: 128 бит, лучшая атака ≥ 2¹¹⁰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bign на bign-curve256v1: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ρ-Полларда ≈ 2¹²⁸ операций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Детерминированный bign-sign2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снимает риск повтора k (как в ECDSA)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belt-hash в bee2 — постоянное время,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нечувствительно к тайминг-атакам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Защищённость комплекса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584000"/>
            <a:ext cx="5400000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Закрытый ключ не покидает Flash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CRC-32 защищает ключевую пару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от повреждения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Read-out Protection блокирует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чтение Flash через JTAG/SWD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Негативный тест: изменение 1 байта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→ BAD SIGNATURE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Итоговый уровень стойкости: 128 бит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Calibri"/>
              </a:rPr>
              <a:t>Все поставленные задачи выполнены: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655999"/>
            <a:ext cx="10800000" cy="3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Изучены национальные стандарты СТБ 34.101.31, 34.101.45, 34.101.47, 34.101.66.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Спроектирована архитектура комплекса «ПК + STM32» с USB CDC-обменом.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Выполнен обзор аппаратно-программных средств защиты по СТБ в Беларуси.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Реализована прошивка STM32F103C8T6 на bee2 (~83 КБ Flash, 18,5 КБ ОЗУ).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Создано хост-приложение Tkinter с тремя рабочими вкладками.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Натурно подтверждены: belt-hash, bign-sign / verify, belt-CBC + PKCS#7.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932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Перспективы развития: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364000"/>
            <a:ext cx="10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реализация PKCS#11-провайдера для интеграции в стандартные приложения;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использование bake (СТБ 34.101.66) для защищённой передачи сеансовых ключей;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переход на STM32 с аппаратным TRNG и большим объёмом ОЗУ.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2160000"/>
            <a:ext cx="10800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F5F7FA"/>
                </a:solidFill>
                <a:latin typeface="Calibri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600000"/>
            <a:ext cx="1080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F5F7FA"/>
                </a:solidFill>
                <a:latin typeface="Calibri"/>
              </a:rPr>
              <a:t>Готов ответить на вопросы.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5400000"/>
            <a:ext cx="1080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Calibri"/>
              </a:rPr>
              <a:t>github.com/viccino2006/Cursovaya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