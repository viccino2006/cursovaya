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720000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Calibri"/>
              </a:rPr>
              <a:t>Белорусский государственный университет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Calibri"/>
              </a:rPr>
              <a:t>Факультет радиофизики и компьютерных технологий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96000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Calibri"/>
              </a:rPr>
              <a:t>Кафедра телекоммуникаций и информационных технологий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>
                <a:solidFill>
                  <a:srgbClr val="F5F7FA"/>
                </a:solidFill>
                <a:latin typeface="Calibri"/>
              </a:rPr>
              <a:t>Курсовая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772000"/>
            <a:ext cx="10800000" cy="1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F5F7FA"/>
                </a:solidFill>
                <a:latin typeface="Calibri"/>
              </a:rPr>
              <a:t>Разработка программно-аппаратного комплекса</a:t>
            </a:r>
          </a:p>
          <a:p>
            <a:pPr algn="ctr"/>
            <a:r>
              <a:rPr sz="3200" b="1">
                <a:solidFill>
                  <a:srgbClr val="F5F7FA"/>
                </a:solidFill>
                <a:latin typeface="Calibri"/>
              </a:rPr>
              <a:t>криптографических преобразований информации</a:t>
            </a:r>
          </a:p>
          <a:p>
            <a:pPr algn="ctr"/>
            <a:r>
              <a:rPr sz="3200" b="1">
                <a:solidFill>
                  <a:srgbClr val="F5F7FA"/>
                </a:solidFill>
                <a:latin typeface="Calibri"/>
              </a:rPr>
              <a:t>по стандартам СТБ с USB-интерфейсом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220000"/>
            <a:ext cx="108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Calibri"/>
              </a:rPr>
              <a:t>Выполнил: Дятчик Владимир Александрович, студент 3 курса 602 группы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508000"/>
            <a:ext cx="108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Calibri"/>
              </a:rPr>
              <a:t>Научный руководитель: ассистент Рундыгин Сергей Денисович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300000"/>
            <a:ext cx="108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Calibri"/>
              </a:rPr>
              <a:t>Минск,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Актуальность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1152000"/>
            <a:ext cx="10800000" cy="3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•  Государственные и финансовые системы РБ обязаны защищать данные по СТБ.</a:t>
            </a:r>
          </a:p>
          <a:p>
            <a:pPr algn="l"/>
            <a:endParaRPr sz="20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•  Использование иностранных решений ограничено законодательством (Указ № 196).</a:t>
            </a:r>
          </a:p>
          <a:p>
            <a:pPr algn="l"/>
            <a:endParaRPr sz="20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•  Программные хранилища ключей уязвимы при компрометации хост-системы.</a:t>
            </a:r>
          </a:p>
          <a:p>
            <a:pPr algn="l"/>
            <a:endParaRPr sz="20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•  Сертифицированные токены (АвестКлюч, Rutoken) дороги и закрыты.</a:t>
            </a:r>
          </a:p>
          <a:p>
            <a:pPr algn="l"/>
            <a:endParaRPr sz="20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•  Нет открытых учебных образцов на отладочных платах STM32.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860000"/>
            <a:ext cx="10800000" cy="10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3A68"/>
                </a:solidFill>
                <a:latin typeface="Calibri"/>
              </a:rPr>
              <a:t>⇒ Открытый, недорогой и расширяемый макет</a:t>
            </a:r>
          </a:p>
          <a:p>
            <a:pPr algn="l"/>
            <a:r>
              <a:rPr sz="2200" b="1">
                <a:solidFill>
                  <a:srgbClr val="1F3A68"/>
                </a:solidFill>
                <a:latin typeface="Calibri"/>
              </a:rPr>
              <a:t>USB-токена, реализующего отечественные стандарты СТБ.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Цель и задачи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0800000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3A68"/>
                </a:solidFill>
                <a:latin typeface="Calibri"/>
              </a:rPr>
              <a:t>Цель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512000"/>
            <a:ext cx="1080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dirty="0" err="1">
                <a:solidFill>
                  <a:srgbClr val="1A1A1A"/>
                </a:solidFill>
                <a:latin typeface="Calibri"/>
              </a:rPr>
              <a:t>Разработка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программно-аппаратного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комплекса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выполняющего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криптографические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преобразования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информации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по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белорусским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стандартам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 СТБ 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на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отдельном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 USB-</a:t>
            </a:r>
            <a:r>
              <a:rPr sz="1800" b="0" dirty="0" err="1">
                <a:solidFill>
                  <a:srgbClr val="1A1A1A"/>
                </a:solidFill>
                <a:latin typeface="Calibri"/>
              </a:rPr>
              <a:t>устройстве</a:t>
            </a:r>
            <a:r>
              <a:rPr sz="1800" b="0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700000"/>
            <a:ext cx="10800000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3A68"/>
                </a:solidFill>
                <a:latin typeface="Calibri"/>
              </a:rPr>
              <a:t>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131999"/>
            <a:ext cx="10800000" cy="28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1. Изучить теоретические основы и национальные криптографические стандарты СТБ.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2. Обосновать выбор микроконтроллерной платформы и архитектуры комплекса.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3. Провести обзор существующих аппаратно-программных средств защиты по СТБ.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4. Разработать прошивку устройства на основе криптобиблиотеки bee2.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5. Реализовать хост-приложение для управления комплексом по USB CDC.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6. Провести натурные испытания и оценить производительность и стойкость.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Используемые стандарты СТБ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502296"/>
              </p:ext>
            </p:extLst>
          </p:nvPr>
        </p:nvGraphicFramePr>
        <p:xfrm>
          <a:off x="540000" y="1260000"/>
          <a:ext cx="1098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7FA"/>
                          </a:solidFill>
                          <a:latin typeface="Calibri"/>
                        </a:rPr>
                        <a:t>Стандарт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7FA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7FA"/>
                          </a:solidFill>
                          <a:latin typeface="Calibri"/>
                        </a:rPr>
                        <a:t>Роль в комплексе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СТБ 34.101.31-2020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Шифр belt (блок 128 бит, ключ до 256 бит)
и хеш-функция belt-hash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Шифрование файлов в режиме CBC,
вычисление хешей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СТБ 34.101.45-2020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Электронная цифровая подпись bign
на эллиптических кривых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Формирование и проверка подписи,
алгоритм bign-sign2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СТБ 34.101.47-2017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Алгоритмы генерации
псевдослучайных чисел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Генератор brng для выработки
ключевой пары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sz="15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50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5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Общая архитектура комплекса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0000" y="1800000"/>
            <a:ext cx="3960000" cy="2880000"/>
          </a:xfrm>
          <a:prstGeom prst="roundRect">
            <a:avLst/>
          </a:prstGeom>
          <a:solidFill>
            <a:srgbClr val="F5F7F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0000" y="1872000"/>
            <a:ext cx="36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Персональный компьютер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340000"/>
            <a:ext cx="3600000" cy="1384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Tkinter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GUI</a:t>
            </a:r>
          </a:p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stm32_protocol.py (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PySerial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)</a:t>
            </a:r>
          </a:p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belt_hash.py — </a:t>
            </a:r>
            <a:r>
              <a:rPr lang="ru-RU" sz="1500" b="0" dirty="0" err="1">
                <a:solidFill>
                  <a:srgbClr val="1A1A1A"/>
                </a:solidFill>
                <a:latin typeface="Calibri"/>
              </a:rPr>
              <a:t>хеш</a:t>
            </a:r>
            <a:r>
              <a:rPr lang="ru-RU" sz="1500" b="0" dirty="0">
                <a:solidFill>
                  <a:srgbClr val="1A1A1A"/>
                </a:solidFill>
                <a:latin typeface="Calibri"/>
              </a:rPr>
              <a:t> по стандарту</a:t>
            </a:r>
            <a:endParaRPr sz="15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belt.py —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программный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шифр</a:t>
            </a:r>
            <a:endParaRPr sz="15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чтение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/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запись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файлов</a:t>
            </a:r>
            <a:endParaRPr sz="15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хранение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публичных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ключей</a:t>
            </a:r>
            <a:endParaRPr sz="15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00" y="2951999"/>
            <a:ext cx="2520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1F3A68"/>
                </a:solidFill>
                <a:latin typeface="Calibri"/>
              </a:rPr>
              <a:t>USB CDC </a:t>
            </a:r>
          </a:p>
          <a:p>
            <a:pPr algn="ctr"/>
            <a:r>
              <a:rPr sz="1400" b="1" dirty="0">
                <a:solidFill>
                  <a:srgbClr val="1F3A68"/>
                </a:solidFill>
                <a:latin typeface="Calibri"/>
              </a:rPr>
              <a:t>«</a:t>
            </a:r>
            <a:r>
              <a:rPr sz="1400" b="1" dirty="0" err="1">
                <a:solidFill>
                  <a:srgbClr val="1F3A68"/>
                </a:solidFill>
                <a:latin typeface="Calibri"/>
              </a:rPr>
              <a:t>запрос</a:t>
            </a:r>
            <a:r>
              <a:rPr sz="1400" b="1" dirty="0">
                <a:solidFill>
                  <a:srgbClr val="1F3A68"/>
                </a:solidFill>
                <a:latin typeface="Calibri"/>
              </a:rPr>
              <a:t> – </a:t>
            </a:r>
            <a:r>
              <a:rPr sz="1400" b="1" dirty="0" err="1">
                <a:solidFill>
                  <a:srgbClr val="1F3A68"/>
                </a:solidFill>
                <a:latin typeface="Calibri"/>
              </a:rPr>
              <a:t>ответ</a:t>
            </a:r>
            <a:r>
              <a:rPr sz="1400" b="1" dirty="0">
                <a:solidFill>
                  <a:srgbClr val="1F3A68"/>
                </a:solidFill>
                <a:latin typeface="Calibri"/>
              </a:rPr>
              <a:t>», 8 </a:t>
            </a:r>
            <a:r>
              <a:rPr sz="1400" b="1" dirty="0" err="1">
                <a:solidFill>
                  <a:srgbClr val="1F3A68"/>
                </a:solidFill>
                <a:latin typeface="Calibri"/>
              </a:rPr>
              <a:t>команд</a:t>
            </a:r>
            <a:endParaRPr sz="1400" b="1" dirty="0">
              <a:solidFill>
                <a:srgbClr val="1F3A68"/>
              </a:solidFill>
              <a:latin typeface="Calibri"/>
            </a:endParaRPr>
          </a:p>
        </p:txBody>
      </p:sp>
      <p:sp>
        <p:nvSpPr>
          <p:cNvPr id="9" name="Left-Right Arrow 8"/>
          <p:cNvSpPr/>
          <p:nvPr/>
        </p:nvSpPr>
        <p:spPr>
          <a:xfrm>
            <a:off x="4860000" y="3420000"/>
            <a:ext cx="2520000" cy="288000"/>
          </a:xfrm>
          <a:prstGeom prst="leftRightArrow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60000" y="1800000"/>
            <a:ext cx="3960000" cy="2880000"/>
          </a:xfrm>
          <a:prstGeom prst="roundRect">
            <a:avLst/>
          </a:prstGeom>
          <a:solidFill>
            <a:srgbClr val="F5F7F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0000" y="1872000"/>
            <a:ext cx="36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STM32F103C8T6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0000" y="2340000"/>
            <a:ext cx="36000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bee2 (belt, belt-hash,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bign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)</a:t>
            </a:r>
          </a:p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usb_protocol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—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диспетчер</a:t>
            </a:r>
            <a:endParaRPr sz="15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rng_stm32 —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сбор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энтропии</a:t>
            </a:r>
            <a:endParaRPr sz="15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HAL + USB Device CDC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5040000"/>
            <a:ext cx="10800000" cy="10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Calibri"/>
              </a:rPr>
              <a:t>Принцип минимизации доверенной зоны: закрытый ключ никогда не покидает микроконтроллер.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Аппаратная платформа: STM32F103C8T6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5400000" cy="3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•  Ядро ARM Cortex-M3, 72 МГц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•  128 КБ Flash, 20 КБ ОЗУ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•  Аппаратный USB Full-Speed (12 Мбит/с)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•  96-битный уникальный ID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•  12-разрядный АЦП — источник шума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•  Цена платы STM32 Smart V2.0 &lt; 10 у.е.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1260000"/>
            <a:ext cx="54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dirty="0" err="1">
                <a:solidFill>
                  <a:srgbClr val="1F3A68"/>
                </a:solidFill>
                <a:latin typeface="Calibri"/>
              </a:rPr>
              <a:t>Почему</a:t>
            </a:r>
            <a:r>
              <a:rPr sz="1800" b="1" dirty="0">
                <a:solidFill>
                  <a:srgbClr val="1F3A68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3A68"/>
                </a:solidFill>
                <a:latin typeface="Calibri"/>
              </a:rPr>
              <a:t>именно</a:t>
            </a:r>
            <a:r>
              <a:rPr sz="1800" b="1" dirty="0">
                <a:solidFill>
                  <a:srgbClr val="1F3A68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3A68"/>
                </a:solidFill>
                <a:latin typeface="Calibri"/>
              </a:rPr>
              <a:t>этот</a:t>
            </a:r>
            <a:r>
              <a:rPr sz="1800" b="1" dirty="0">
                <a:solidFill>
                  <a:srgbClr val="1F3A68"/>
                </a:solidFill>
                <a:latin typeface="Calibri"/>
              </a:rPr>
              <a:t> МК</a:t>
            </a:r>
            <a:r>
              <a:rPr lang="ru-RU" sz="1800" b="1" dirty="0">
                <a:solidFill>
                  <a:srgbClr val="1F3A68"/>
                </a:solidFill>
                <a:latin typeface="Calibri"/>
              </a:rPr>
              <a:t>?</a:t>
            </a:r>
            <a:endParaRPr sz="1800" b="1" dirty="0">
              <a:solidFill>
                <a:srgbClr val="1F3A6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0000" y="1692000"/>
            <a:ext cx="5400000" cy="3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 Достаточно памяти для bee2 (≈38 КБ)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 Полный цикл bign-sign укладывается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    в 42 мс — приемлемо для пользователя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 Аппаратный USB снимает необходимость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    в драйверах USB-UART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 Опция Read-out Protection защищает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    Flash от несанкционированного чтения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Протокол обмена по USB CDC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0800000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Формат пакета: CMD (1 байт) | LEN (2 байта) | DATA (LEN байт)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800000"/>
          <a:ext cx="109800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7FA"/>
                          </a:solidFill>
                          <a:latin typeface="Calibri"/>
                        </a:rPr>
                        <a:t>Команда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7FA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</a:rPr>
                        <a:t>CMD_PING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Проверка связи, возвращает «BIGN1»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</a:rPr>
                        <a:t>CMD_GEN_KEYPAIR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Генерация новой пары ключей bign-128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</a:rPr>
                        <a:t>CMD_GET_PUBKEY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Чтение открытого ключа (64 байта)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</a:rPr>
                        <a:t>CMD_SIGN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Подпись 32-байтового хеша → 48 байт подписи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</a:rPr>
                        <a:t>CMD_VERIFY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Проверка подписи по pubkey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</a:rPr>
                        <a:t>CMD_HASH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belt-hash произвольных данных → 32 байта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</a:rPr>
                        <a:t>CMD_ENCRYPT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belt-CBC: IV+ключ+открытый текст → шифртекст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</a:rPr>
                        <a:t>CMD_DECRYPT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belt-CBC обратно: шифртекст → открытый текст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Прошивка устройства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1152000"/>
            <a:ext cx="54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Слои прошивки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5400000" cy="1831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1. STM32 HAL (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CubeMX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)</a:t>
            </a: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2. USB Device + USB CDC</a:t>
            </a: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3.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usb_protocol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—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кадрирование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и</a:t>
            </a: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 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диспетчер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8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команд</a:t>
            </a:r>
            <a:endParaRPr sz="17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4.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crypto_stb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—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обёртка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над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bee2</a:t>
            </a: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5.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key_storage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— Flash + CRC-32</a:t>
            </a: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6. rng_stm32 — UID + DWT + АЦП → belt-hash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1152000"/>
            <a:ext cx="54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Хранение ключевой пары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548000"/>
            <a:ext cx="5400000" cy="3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Последняя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страница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Flash:</a:t>
            </a: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    0x0801FC00, 1 КБ</a:t>
            </a: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•  32 Б d || 64 Б Q || 4 Б CRC-32</a:t>
            </a: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Защита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целостности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по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CRC</a:t>
            </a: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При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повреждении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→ ERR_NO_KEY</a:t>
            </a: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Закрытый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ключ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d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из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чипа</a:t>
            </a:r>
            <a:endParaRPr sz="17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  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не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выводится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наружу</a:t>
            </a:r>
            <a:endParaRPr sz="17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Хост-приложение (Python 3 + Tkinter)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1152000"/>
            <a:ext cx="108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Три рабочих вкладки + журнал операций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800000"/>
            <a:ext cx="3600000" cy="3240000"/>
          </a:xfrm>
          <a:prstGeom prst="roundRect">
            <a:avLst/>
          </a:prstGeom>
          <a:solidFill>
            <a:srgbClr val="F5F7F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4000" y="1872000"/>
            <a:ext cx="324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Ключи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2304000"/>
            <a:ext cx="3240000" cy="2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Чтение публичного ключа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Генерация новой пары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Сохранение pubkey в файл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0" y="1800000"/>
            <a:ext cx="3600000" cy="3240000"/>
          </a:xfrm>
          <a:prstGeom prst="roundRect">
            <a:avLst/>
          </a:prstGeom>
          <a:solidFill>
            <a:srgbClr val="F5F7F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4000" y="1872000"/>
            <a:ext cx="324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Подпись / проверка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4000" y="2304000"/>
            <a:ext cx="3240000" cy="2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belt-hash на ПК и устройстве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bign-sign2 → файл .sig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bign-verify, негативные тесты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0000" y="1800000"/>
            <a:ext cx="3600000" cy="3240000"/>
          </a:xfrm>
          <a:prstGeom prst="roundRect">
            <a:avLst/>
          </a:prstGeom>
          <a:solidFill>
            <a:srgbClr val="F5F7F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4000" y="1872000"/>
            <a:ext cx="324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Шифрование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4000" y="2304000"/>
            <a:ext cx="3240000" cy="2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belt-CBC + PKCS#7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Случайный ключ и IV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Round-trip без потерь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5256000"/>
            <a:ext cx="108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Модули: stm32_protocol.py (PySerial), belt.py, belt_hash.py (эталонные реализации для контроля устройства).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Демонстрация: генерация ключевой пары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_key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188000"/>
            <a:ext cx="5953963" cy="46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80000" y="1260000"/>
            <a:ext cx="4320000" cy="4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 Сбор энтропии: UID + ADC + DWT</a:t>
            </a:r>
          </a:p>
          <a:p>
            <a:pPr algn="l"/>
            <a:endParaRPr sz="17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 belt-hash → затравка генератора</a:t>
            </a:r>
          </a:p>
          <a:p>
            <a:pPr algn="l"/>
            <a:endParaRPr sz="17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 d ← brng, Q = d·G</a:t>
            </a:r>
          </a:p>
          <a:p>
            <a:pPr algn="l"/>
            <a:endParaRPr sz="17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 Запись в Flash 0x0801FC00</a:t>
            </a:r>
          </a:p>
          <a:p>
            <a:pPr algn="l"/>
            <a:endParaRPr sz="17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 Возврат публичного ключа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   (64 байта)</a:t>
            </a:r>
          </a:p>
          <a:p>
            <a:pPr algn="l"/>
            <a:endParaRPr sz="17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 Время операции: 110 мс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Демонстрация: ЭЦП по СТБ 34.101.45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sign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188000"/>
            <a:ext cx="5930633" cy="46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80000" y="1260000"/>
            <a:ext cx="4320000" cy="4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belt-hash файла Open Text.txt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   на ПК и на устройстве совпали: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   e2f43da9…0133eb45b</a:t>
            </a:r>
          </a:p>
          <a:p>
            <a:pPr algn="l"/>
            <a:endParaRPr sz="15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bign-sign2 (детерминированный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   k = belt-pbkdf(d || H))</a:t>
            </a:r>
          </a:p>
          <a:p>
            <a:pPr algn="l"/>
            <a:endParaRPr sz="15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Получена подпись 48 байт: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   76199588…861b8946</a:t>
            </a:r>
          </a:p>
          <a:p>
            <a:pPr algn="l"/>
            <a:endParaRPr sz="15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Время формирования: 42 мс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Демонстрация: шифрование belt-CBC + PKCS#7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_encrypt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188000"/>
            <a:ext cx="5947915" cy="46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80000" y="1260000"/>
            <a:ext cx="4320000" cy="4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 Исходный файл: 43 байта (UTF-8)</a:t>
            </a:r>
          </a:p>
          <a:p>
            <a:pPr algn="l"/>
            <a:endParaRPr sz="16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 Случайный ключ 32 Б, IV 16 Б</a:t>
            </a:r>
          </a:p>
          <a:p>
            <a:pPr algn="l"/>
            <a:endParaRPr sz="16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 После PKCS#7 → 48 байт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   передаются на устройство</a:t>
            </a:r>
          </a:p>
          <a:p>
            <a:pPr algn="l"/>
            <a:endParaRPr sz="16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 belt-CBC шифрует → 48 байт</a:t>
            </a:r>
          </a:p>
          <a:p>
            <a:pPr algn="l"/>
            <a:endParaRPr sz="16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 Расшифрование + снятие PKCS#7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   → ровно 43 байта оригинала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Подтверждение корректности: round-trip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round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188000"/>
            <a:ext cx="11160000" cy="3889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5652000"/>
            <a:ext cx="1098000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Слева — оригинал, в центре — шифртекст (нечитаемые байты), справа — расшифрованный файл. SHA-256 совпадает с оригиналом.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Производительность и ресурсы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188000"/>
          <a:ext cx="72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2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7FA"/>
                          </a:solidFill>
                          <a:latin typeface="Calibri"/>
                        </a:rPr>
                        <a:t>Операция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7FA"/>
                          </a:solidFill>
                          <a:latin typeface="Calibri"/>
                        </a:rPr>
                        <a:t>Размер данных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7FA"/>
                          </a:solidFill>
                          <a:latin typeface="Calibri"/>
                        </a:rPr>
                        <a:t>Время / скорость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28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CMD_PING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0,5 мс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28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belt-hash, 1 КБ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1024 байта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1,3 мс  /  770 КБ/с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28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belt-CBC шифрование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 КБ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0,9 мс  /  1,1 МБ/с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285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</a:rPr>
                        <a:t>bign-sign2 (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  <a:latin typeface="Calibri"/>
                        </a:rPr>
                        <a:t>подпись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хеш 32 байта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42 мс  /  ≈ 24 подписей/с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28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bign-verify (проверка)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32 + 48 + 64 байта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78 мс  /  ≈ 13 проверок/с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29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CMD_GEN_KEYPAIR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</a:rPr>
                        <a:t>110 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  <a:latin typeface="Calibri"/>
                        </a:rPr>
                        <a:t>мс</a:t>
                      </a:r>
                      <a:endParaRPr sz="14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0000" y="1188000"/>
            <a:ext cx="36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Использование ресурсов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0" y="1620000"/>
            <a:ext cx="3600000" cy="3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Flash: 83 / 128 КБ (≈ 65 %)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bee2 ≈ 38 КБ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USB-стек ≈ 14 КБ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HAL ≈ 12 КБ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прикладной слой ≈ 16 КБ</a:t>
            </a:r>
          </a:p>
          <a:p>
            <a:pPr algn="l"/>
            <a:endParaRPr sz="15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ОЗУ: 18,5 / 20 КБ (≈ 93 %)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bss ≈ 13 КБ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куча bee2 ≈ 4 КБ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стек ≈ 1,5 КБ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Сравнение с существующими решениями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981509"/>
              </p:ext>
            </p:extLst>
          </p:nvPr>
        </p:nvGraphicFramePr>
        <p:xfrm>
          <a:off x="540000" y="1188000"/>
          <a:ext cx="1098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7FA"/>
                          </a:solidFill>
                          <a:latin typeface="Calibri"/>
                        </a:rPr>
                        <a:t>Решение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7FA"/>
                          </a:solidFill>
                          <a:latin typeface="Calibri"/>
                        </a:rPr>
                        <a:t>Алгоритмы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7FA"/>
                          </a:solidFill>
                          <a:latin typeface="Calibri"/>
                        </a:rPr>
                        <a:t>Открытость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7FA"/>
                          </a:solidFill>
                          <a:latin typeface="Calibri"/>
                        </a:rPr>
                        <a:t>Цена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АвестКлюч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СТБ 34.101.31/45/66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закрытое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≈ 90 BYN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Rutoken ЭЦП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СТБ 34.101.31/45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закрытое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≈ 80 BYN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JaCarta GOST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СТБ 34.101.45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закрытое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≈ 120 BYN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Bee2 (BSU)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СТБ 34.101.31/45/47/66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открытое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бесплатно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ПАК «Подпись» (Авест)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СТБ 34.101.31/45, ЭЦП ГосСУОК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закрытое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≈ 350 BYN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68"/>
                          </a:solidFill>
                          <a:latin typeface="Calibri"/>
                        </a:rPr>
                        <a:t>Разработанный комплекс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68"/>
                          </a:solidFill>
                          <a:latin typeface="Calibri"/>
                        </a:rPr>
                        <a:t>СТБ 34.101.31, 34.101.45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68"/>
                          </a:solidFill>
                          <a:latin typeface="Calibri"/>
                        </a:rPr>
                        <a:t>открытое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68"/>
                          </a:solidFill>
                          <a:latin typeface="Calibri"/>
                        </a:rPr>
                        <a:t>≈ 30 BYN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 err="1">
                <a:solidFill>
                  <a:srgbClr val="555555"/>
                </a:solidFill>
                <a:latin typeface="Calibri"/>
              </a:rPr>
              <a:t>Программно-аппаратный</a:t>
            </a:r>
            <a:r>
              <a:rPr sz="1000" b="0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Calibri"/>
              </a:rPr>
              <a:t>комплекс</a:t>
            </a:r>
            <a:r>
              <a:rPr sz="1000" b="0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Calibri"/>
              </a:rPr>
              <a:t>по</a:t>
            </a:r>
            <a:r>
              <a:rPr sz="1000" b="0" dirty="0">
                <a:solidFill>
                  <a:srgbClr val="555555"/>
                </a:solidFill>
                <a:latin typeface="Calibri"/>
              </a:rPr>
              <a:t> СТБ с USB-</a:t>
            </a:r>
            <a:r>
              <a:rPr sz="1000" b="0" dirty="0" err="1">
                <a:solidFill>
                  <a:srgbClr val="555555"/>
                </a:solidFill>
                <a:latin typeface="Calibri"/>
              </a:rPr>
              <a:t>интерфейсом</a:t>
            </a:r>
            <a:endParaRPr sz="1000" b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Оценка стойкости и защищённости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1152000"/>
            <a:ext cx="54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Криптографическая стойкость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584000"/>
            <a:ext cx="5400000" cy="24622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1A1A1A"/>
                </a:solidFill>
                <a:latin typeface="Calibri"/>
              </a:rPr>
              <a:t>•  belt: 128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бит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лучшая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атака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≥ 2¹¹⁰</a:t>
            </a:r>
          </a:p>
          <a:p>
            <a:pPr algn="l"/>
            <a:endParaRPr sz="16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bign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на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bign-curve256v1:</a:t>
            </a:r>
          </a:p>
          <a:p>
            <a:pPr algn="l"/>
            <a:r>
              <a:rPr sz="1600" b="0" dirty="0">
                <a:solidFill>
                  <a:srgbClr val="1A1A1A"/>
                </a:solidFill>
                <a:latin typeface="Calibri"/>
              </a:rPr>
              <a:t>   ρ-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Полларда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≈ 2¹²⁸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операций</a:t>
            </a:r>
            <a:endParaRPr sz="1600" b="0" dirty="0">
              <a:solidFill>
                <a:srgbClr val="1A1A1A"/>
              </a:solidFill>
              <a:latin typeface="Calibri"/>
            </a:endParaRPr>
          </a:p>
          <a:p>
            <a:pPr algn="l"/>
            <a:endParaRPr sz="16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Детерминированный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bign-sign2</a:t>
            </a:r>
          </a:p>
          <a:p>
            <a:pPr algn="l"/>
            <a:r>
              <a:rPr sz="1600" b="0" dirty="0">
                <a:solidFill>
                  <a:srgbClr val="1A1A1A"/>
                </a:solidFill>
                <a:latin typeface="Calibri"/>
              </a:rPr>
              <a:t>  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снимает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риск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повтора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k</a:t>
            </a:r>
          </a:p>
          <a:p>
            <a:pPr algn="l"/>
            <a:endParaRPr sz="16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1A1A1A"/>
                </a:solidFill>
                <a:latin typeface="Calibri"/>
              </a:rPr>
              <a:t>•  belt-hash в bee2 —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постоянное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время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,</a:t>
            </a:r>
          </a:p>
          <a:p>
            <a:pPr algn="l"/>
            <a:r>
              <a:rPr sz="1600" b="0" dirty="0">
                <a:solidFill>
                  <a:srgbClr val="1A1A1A"/>
                </a:solidFill>
                <a:latin typeface="Calibri"/>
              </a:rPr>
              <a:t>  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нечувствительно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к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тайминг-атакам</a:t>
            </a:r>
            <a:endParaRPr sz="16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0000" y="1152000"/>
            <a:ext cx="54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Защищённость комплекса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584000"/>
            <a:ext cx="5400000" cy="39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 Закрытый ключ не покидает Flash</a:t>
            </a:r>
          </a:p>
          <a:p>
            <a:pPr algn="l"/>
            <a:endParaRPr sz="16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 CRC-32 защищает ключевую пару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   от повреждения</a:t>
            </a:r>
          </a:p>
          <a:p>
            <a:pPr algn="l"/>
            <a:endParaRPr sz="16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 Read-out Protection блокирует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   чтение Flash через JTAG/SWD</a:t>
            </a:r>
          </a:p>
          <a:p>
            <a:pPr algn="l"/>
            <a:endParaRPr sz="16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 Негативный тест: изменение 1 байта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   → BAD SIGNATURE</a:t>
            </a:r>
          </a:p>
          <a:p>
            <a:pPr algn="l"/>
            <a:endParaRPr sz="16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 Итоговый уровень стойкости: 128 бит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Calibri"/>
              </a:rP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828000"/>
            <a:ext cx="2880000" cy="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0800000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Calibri"/>
              </a:rPr>
              <a:t>Все поставленные задачи выполнены: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55999"/>
            <a:ext cx="10800000" cy="3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Изучены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национальные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стандарты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СТБ 34.101.31, 34.101.45, 34.101.47, 34.101.66.</a:t>
            </a:r>
          </a:p>
          <a:p>
            <a:pPr algn="l"/>
            <a:endParaRPr sz="17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Спроектирована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архитектура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комплекса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«ПК + STM32» с USB CDC-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обменом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/>
            <a:endParaRPr sz="17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Выполнен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обзор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аппаратно-программных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средств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защиты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по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СТБ в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Беларуси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/>
            <a:endParaRPr sz="17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Реализована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прошивка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STM32F103C8T6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на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bee2 (~83 КБ Flash, 18,5 КБ ОЗУ).</a:t>
            </a:r>
          </a:p>
          <a:p>
            <a:pPr algn="l"/>
            <a:endParaRPr sz="17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Создано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хост-приложение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Tkinter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с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тремя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рабочими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вкладками</a:t>
            </a:r>
            <a:r>
              <a:rPr sz="17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/>
            <a:endParaRPr sz="1700" b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7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Натурно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подтверждены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: belt-hash, </a:t>
            </a:r>
            <a:r>
              <a:rPr sz="1700" b="0" dirty="0" err="1">
                <a:solidFill>
                  <a:srgbClr val="1A1A1A"/>
                </a:solidFill>
                <a:latin typeface="Calibri"/>
              </a:rPr>
              <a:t>bign</a:t>
            </a:r>
            <a:r>
              <a:rPr sz="1700" b="0" dirty="0">
                <a:solidFill>
                  <a:srgbClr val="1A1A1A"/>
                </a:solidFill>
                <a:latin typeface="Calibri"/>
              </a:rPr>
              <a:t>-sign / verify, belt-CBC + PKCS#7.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932000"/>
            <a:ext cx="108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Перспективы развития: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364000"/>
            <a:ext cx="108000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реализация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PKCS#11-провайдера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для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интеграции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в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стандартные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приложения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;</a:t>
            </a:r>
          </a:p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использование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bake (СТБ 34.101.66)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для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защищённой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передачи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сеансовых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ключей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;</a:t>
            </a:r>
          </a:p>
          <a:p>
            <a:pPr algn="l"/>
            <a:r>
              <a:rPr sz="150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переход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на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STM32 с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аппаратным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TRNG и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большим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Calibri"/>
              </a:rPr>
              <a:t>объёмом</a:t>
            </a:r>
            <a:r>
              <a:rPr sz="1500" b="0" dirty="0">
                <a:solidFill>
                  <a:srgbClr val="1A1A1A"/>
                </a:solidFill>
                <a:latin typeface="Calibri"/>
              </a:rPr>
              <a:t> ОЗУ.</a:t>
            </a:r>
            <a:endParaRPr lang="ru-RU" sz="15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lang="ru-BY" sz="1500" b="0" dirty="0">
                <a:solidFill>
                  <a:srgbClr val="1A1A1A"/>
                </a:solidFill>
                <a:latin typeface="Calibri"/>
              </a:rPr>
              <a:t>•</a:t>
            </a:r>
            <a:r>
              <a:rPr lang="ru-RU" sz="1500" b="0" dirty="0">
                <a:solidFill>
                  <a:srgbClr val="1A1A1A"/>
                </a:solidFill>
                <a:latin typeface="Calibri"/>
              </a:rPr>
              <a:t> Разработка аппаратных и программных средств защиты от НСД для разработанного ПАК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48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Программно-аппаратный комплекс по СТБ с USB-интерфейсом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0" y="6480000"/>
            <a:ext cx="90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1925" y="2700000"/>
            <a:ext cx="10800000" cy="10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 dirty="0" err="1">
                <a:solidFill>
                  <a:srgbClr val="F5F7FA"/>
                </a:solidFill>
                <a:latin typeface="Calibri"/>
              </a:rPr>
              <a:t>Спасибо</a:t>
            </a:r>
            <a:r>
              <a:rPr sz="4800" b="1" dirty="0">
                <a:solidFill>
                  <a:srgbClr val="F5F7FA"/>
                </a:solidFill>
                <a:latin typeface="Calibri"/>
              </a:rPr>
              <a:t> </a:t>
            </a:r>
            <a:r>
              <a:rPr sz="4800" b="1" dirty="0" err="1">
                <a:solidFill>
                  <a:srgbClr val="F5F7FA"/>
                </a:solidFill>
                <a:latin typeface="Calibri"/>
              </a:rPr>
              <a:t>за</a:t>
            </a:r>
            <a:r>
              <a:rPr sz="4800" b="1" dirty="0">
                <a:solidFill>
                  <a:srgbClr val="F5F7FA"/>
                </a:solidFill>
                <a:latin typeface="Calibri"/>
              </a:rPr>
              <a:t> </a:t>
            </a:r>
            <a:r>
              <a:rPr sz="4800" b="1" dirty="0" err="1">
                <a:solidFill>
                  <a:srgbClr val="F5F7FA"/>
                </a:solidFill>
                <a:latin typeface="Calibri"/>
              </a:rPr>
              <a:t>внимание</a:t>
            </a:r>
            <a:r>
              <a:rPr sz="4800" b="1" dirty="0">
                <a:solidFill>
                  <a:srgbClr val="F5F7FA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1503</Words>
  <Application>Microsoft Office PowerPoint</Application>
  <PresentationFormat>Произвольный</PresentationFormat>
  <Paragraphs>301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Вова Дятчик</dc:creator>
  <cp:keywords/>
  <dc:description>generated using python-pptx</dc:description>
  <cp:lastModifiedBy>Вова Дятчик</cp:lastModifiedBy>
  <cp:revision>6</cp:revision>
  <dcterms:created xsi:type="dcterms:W3CDTF">2013-01-27T09:14:16Z</dcterms:created>
  <dcterms:modified xsi:type="dcterms:W3CDTF">2026-05-26T20:21:40Z</dcterms:modified>
  <cp:category/>
</cp:coreProperties>
</file>